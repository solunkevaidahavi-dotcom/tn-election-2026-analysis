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5.4070465768050177E-2"/>
          <c:y val="3.8912583843686205E-2"/>
          <c:w val="0.89649450598336222"/>
          <c:h val="0.844880327459067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2021 %</c:v>
                </c:pt>
              </c:strCache>
            </c:strRef>
          </c:tx>
          <c:spPr>
            <a:solidFill>
              <a:srgbClr val="00529B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BJP</c:v>
                </c:pt>
                <c:pt idx="4">
                  <c:v>Congress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37.700000000000003</c:v>
                </c:pt>
                <c:pt idx="1">
                  <c:v>33.1</c:v>
                </c:pt>
                <c:pt idx="2">
                  <c:v>0</c:v>
                </c:pt>
                <c:pt idx="3">
                  <c:v>8.1999999999999993</c:v>
                </c:pt>
                <c:pt idx="4">
                  <c:v>10.5</c:v>
                </c:pt>
                <c:pt idx="5">
                  <c:v>10.5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F81-478D-95C3-C3E0394342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2026 %</c:v>
                </c:pt>
              </c:strCache>
            </c:strRef>
          </c:tx>
          <c:spPr>
            <a:solidFill>
              <a:srgbClr val="00734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BJP</c:v>
                </c:pt>
                <c:pt idx="4">
                  <c:v>Congress</c:v>
                </c:pt>
                <c:pt idx="5">
                  <c:v>Others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24.9</c:v>
                </c:pt>
                <c:pt idx="1">
                  <c:v>21.2</c:v>
                </c:pt>
                <c:pt idx="2">
                  <c:v>28.4</c:v>
                </c:pt>
                <c:pt idx="3">
                  <c:v>9.1</c:v>
                </c:pt>
                <c:pt idx="4">
                  <c:v>8.3000000000000007</c:v>
                </c:pt>
                <c:pt idx="5">
                  <c:v>8.1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F81-478D-95C3-C3E039434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9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DC3545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Vellore</c:v>
                </c:pt>
                <c:pt idx="1">
                  <c:v>Ranipet</c:v>
                </c:pt>
                <c:pt idx="2">
                  <c:v>Arakkonam</c:v>
                </c:pt>
                <c:pt idx="3">
                  <c:v>Walajabad</c:v>
                </c:pt>
                <c:pt idx="4">
                  <c:v>Sriperumbudur</c:v>
                </c:pt>
                <c:pt idx="5">
                  <c:v>Pallavaram</c:v>
                </c:pt>
                <c:pt idx="6">
                  <c:v>Tambaram</c:v>
                </c:pt>
                <c:pt idx="7">
                  <c:v>Chengalpattu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1.1000000000000001</c:v>
                </c:pt>
                <c:pt idx="2">
                  <c:v>1.3</c:v>
                </c:pt>
                <c:pt idx="3">
                  <c:v>1.5</c:v>
                </c:pt>
                <c:pt idx="4">
                  <c:v>1.6</c:v>
                </c:pt>
                <c:pt idx="5">
                  <c:v>1.7</c:v>
                </c:pt>
                <c:pt idx="6">
                  <c:v>1.8</c:v>
                </c:pt>
                <c:pt idx="7">
                  <c:v>1.9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3B1-460F-98B0-84B11B9DF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6675120"/>
          </a:xfrm>
          <a:prstGeom prst="rect">
            <a:avLst/>
          </a:prstGeom>
          <a:solidFill>
            <a:srgbClr val="F0F5FF"/>
          </a:solidFill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1" y="1188720"/>
            <a:ext cx="40377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64788C"/>
                </a:solidFill>
                <a:latin typeface="Calibri Light"/>
              </a:defRPr>
            </a:pPr>
            <a:r>
              <a:rPr dirty="0"/>
              <a:t>🗺️</a:t>
            </a:r>
            <a:br>
              <a:rPr dirty="0"/>
            </a:br>
            <a:r>
              <a:rPr dirty="0"/>
              <a:t>Tamil Nadu</a:t>
            </a:r>
            <a:br>
              <a:rPr dirty="0"/>
            </a:b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728655" cy="1188720"/>
          </a:xfrm>
          <a:prstGeom prst="rect">
            <a:avLst/>
          </a:prstGeom>
          <a:solidFill>
            <a:srgbClr val="FFF8F8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DC3545"/>
                </a:solidFill>
                <a:latin typeface="Calibri Light"/>
              </a:defRPr>
            </a:pPr>
            <a:r>
              <a:t>HEADLINE: The 2026 Tamil Nadu election systematically reallocated nearly 15 percentage points of combined incumbent support across all six standardized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12529"/>
                </a:solidFill>
                <a:latin typeface="Calibri Light"/>
              </a:defRPr>
            </a:pPr>
            <a:r>
              <a:rPr dirty="0"/>
              <a:t>Tamil Nadu Legislative Assembly Election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rPr dirty="0"/>
              <a:t>2021 vs 2026: Descriptive Comparative Study | </a:t>
            </a:r>
            <a:r>
              <a:rPr dirty="0" err="1"/>
              <a:t>AtliQ</a:t>
            </a:r>
            <a:r>
              <a:rPr dirty="0"/>
              <a:t> Media Special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ECI Data Coverage | 234 Seats | Prepared: May 2026 | Anchor: Vaidhavi Solunke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Election Commission of India (ECI) Results Portal (May 2026); ECI Statistical Report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Data Methodology &amp; Region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12529"/>
                </a:solidFill>
                <a:latin typeface="Calibri Light"/>
              </a:defRPr>
            </a:pPr>
            <a:r>
              <a:rPr sz="2400" dirty="0"/>
              <a:t>Data Sources &amp; Cleaning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100"/>
            <a:ext cx="51206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600" dirty="0"/>
              <a:t>• Primary: ECI Results Portal (May 2026), ECI Statistical Report (2021)</a:t>
            </a:r>
            <a:br>
              <a:rPr sz="1600" dirty="0"/>
            </a:br>
            <a:r>
              <a:rPr sz="1600" dirty="0"/>
              <a:t>• Secondary: Publicly released constituency-wise vote counts</a:t>
            </a:r>
            <a:br>
              <a:rPr sz="1600" dirty="0"/>
            </a:br>
            <a:r>
              <a:rPr sz="1600" dirty="0"/>
              <a:t>• Exclusions: Postal ballots excluded from vote-share % per ECI convention</a:t>
            </a:r>
            <a:br>
              <a:rPr sz="1600" dirty="0"/>
            </a:br>
            <a:r>
              <a:rPr sz="1600" dirty="0"/>
              <a:t>• Cleaning: Constituency name standardization; null/void votes removed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280160"/>
            <a:ext cx="548640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46304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12529"/>
                </a:solidFill>
                <a:latin typeface="Calibri Light"/>
              </a:defRPr>
            </a:pPr>
            <a:r>
              <a:rPr sz="2400" dirty="0"/>
              <a:t>Region Mapping (6-Region Taxonomy)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011100"/>
            <a:ext cx="5120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12529"/>
                </a:solidFill>
                <a:latin typeface="Calibri"/>
              </a:defRPr>
            </a:pPr>
            <a:r>
              <a:rPr sz="1600" dirty="0"/>
              <a:t>•</a:t>
            </a:r>
            <a:r>
              <a:rPr dirty="0"/>
              <a:t> </a:t>
            </a:r>
            <a:r>
              <a:rPr sz="1600" dirty="0"/>
              <a:t>Chennai Metro: 28 seats</a:t>
            </a:r>
            <a:br>
              <a:rPr sz="1600" dirty="0"/>
            </a:br>
            <a:r>
              <a:rPr sz="1600" dirty="0"/>
              <a:t>• North: 52 seats</a:t>
            </a:r>
            <a:br>
              <a:rPr sz="1600" dirty="0"/>
            </a:br>
            <a:r>
              <a:rPr sz="1600" dirty="0"/>
              <a:t>• Central: 38 seats</a:t>
            </a:r>
            <a:br>
              <a:rPr sz="1600" dirty="0"/>
            </a:br>
            <a:r>
              <a:rPr sz="1600" dirty="0"/>
              <a:t>• Delta: 42 seats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Kongu</a:t>
            </a:r>
            <a:r>
              <a:rPr sz="1600" dirty="0"/>
              <a:t> (West): 46 seats</a:t>
            </a:r>
            <a:br>
              <a:rPr sz="1600" dirty="0"/>
            </a:br>
            <a:r>
              <a:rPr sz="1600" dirty="0"/>
              <a:t>• South: 28 seats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solidFill>
            <a:srgbClr val="FFFDE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826400"/>
                </a:solidFill>
                <a:latin typeface="Calibri"/>
              </a:defRPr>
            </a:pPr>
            <a:r>
              <a:t>⚠️ Compliance: Strictly descriptive. No causal attribution. All figures from ECI-published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Election Commission of India (ECI) Results Portal (May 2026); ECI Statistical Report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Election Scope &amp; Turnout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606040" cy="2834640"/>
          </a:xfrm>
          <a:prstGeom prst="rect">
            <a:avLst/>
          </a:prstGeom>
          <a:solidFill>
            <a:srgbClr val="F8F9FA"/>
          </a:solidFill>
          <a:ln w="381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06040" cy="7315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12529"/>
                </a:solidFill>
                <a:latin typeface="Calibri Light"/>
              </a:defRPr>
            </a:pPr>
            <a:r>
              <a:rPr dirty="0"/>
              <a:t>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Assembly Seats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606040" cy="2834640"/>
          </a:xfrm>
          <a:prstGeom prst="rect">
            <a:avLst/>
          </a:prstGeom>
          <a:solidFill>
            <a:srgbClr val="F8F9FA"/>
          </a:solidFill>
          <a:ln w="38100">
            <a:solidFill>
              <a:srgbClr val="007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06040" cy="73152"/>
          </a:xfrm>
          <a:prstGeom prst="rect">
            <a:avLst/>
          </a:prstGeom>
          <a:solidFill>
            <a:srgbClr val="007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12529"/>
                </a:solidFill>
                <a:latin typeface="Calibri Light"/>
              </a:defRPr>
            </a:pPr>
            <a:r>
              <a:t>7.2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Registered Voters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06040" cy="2834640"/>
          </a:xfrm>
          <a:prstGeom prst="rect">
            <a:avLst/>
          </a:prstGeom>
          <a:solidFill>
            <a:srgbClr val="F8F9FA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06040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12529"/>
                </a:solidFill>
                <a:latin typeface="Calibri Light"/>
              </a:defRPr>
            </a:pPr>
            <a:r>
              <a:t>73.1% → 85.1%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Turnout (2021→2026)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280160"/>
            <a:ext cx="2606040" cy="2834640"/>
          </a:xfrm>
          <a:prstGeom prst="rect">
            <a:avLst/>
          </a:prstGeom>
          <a:solidFill>
            <a:srgbClr val="F8F9FA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6060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12529"/>
                </a:solidFill>
                <a:latin typeface="Calibri Light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560320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Standardized Regions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11277295" cy="173736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1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600" dirty="0"/>
              <a:t>Descriptive Observation: 2026 turnout increased by 12.0 percentage points statewide. Regional turnout variation ranged from +9.1% (Delta) to +14.3% (</a:t>
            </a:r>
            <a:r>
              <a:rPr sz="1600" dirty="0" err="1"/>
              <a:t>Kongu</a:t>
            </a:r>
            <a:r>
              <a:rPr sz="1600" dirty="0"/>
              <a:t>). All vote-share percentages normalized for expanded valid vote pool.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Story 1: Where Seats Moved Across Regions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41286"/>
              </p:ext>
            </p:extLst>
          </p:nvPr>
        </p:nvGraphicFramePr>
        <p:xfrm>
          <a:off x="457200" y="1188720"/>
          <a:ext cx="1127728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Region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DMK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AIADMK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TVK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BJP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Congress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Others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Chennai Metro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18 → 14 (-4)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5 → 3 (-2)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8 (+8)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 → 2 (0)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2 → 1 (-1)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 → 0 (-1)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26 → 19 (-7)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18 → 11 (-7)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12 (+12)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3 → 4 (+1)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4 → 5 (+1)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 → 1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Central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20 → 15 (-5)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12 → 7 (-5)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9 (+9)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2 → 3 (+1)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3 → 3 (0)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 → 1 (0)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Delta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22 → 17 (-5)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15 → 9 (-6)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0 → 11 (+11)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2 → 2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2 → 2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1 → 1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Kongu (West)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28 → 20 (-8)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16 → 8 (-8)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13 (+13)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1 → 2 (+1)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 → 1 (0)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 → 0 (0)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19 → 13 (-6)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14 → 10 (-4)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5 (+5)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 → 1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0 → 1 (+1)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 → 0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120640"/>
            <a:ext cx="11277295" cy="1005840"/>
          </a:xfrm>
          <a:prstGeom prst="rect">
            <a:avLst/>
          </a:prstGeom>
          <a:solidFill>
            <a:srgbClr val="F0F8FF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1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600" dirty="0"/>
              <a:t>Key Pattern: TVK recorded positive net change in all six regions. DMK and AIADMK recorded negative net change in 5/6 regions. Seat reallocation was distributed—not concentrated in a single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Story 2: How Votes Shifted Between Formations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627157"/>
              </p:ext>
            </p:extLst>
          </p:nvPr>
        </p:nvGraphicFramePr>
        <p:xfrm>
          <a:off x="493295" y="1371600"/>
          <a:ext cx="6181822" cy="3327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35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From \ To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DMK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AIADMK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TVK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BJP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Congress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Others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Total Lost</a:t>
                      </a:r>
                    </a:p>
                  </a:txBody>
                  <a:tcPr anchor="ctr">
                    <a:solidFill>
                      <a:srgbClr val="005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DMK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103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15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30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AIADMK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TVK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58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BJP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Congress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18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9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949440" y="1188720"/>
            <a:ext cx="4785055" cy="1920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419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Top 5 Largest Swing Flips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419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12529"/>
                </a:solidFill>
                <a:latin typeface="Calibri"/>
              </a:defRPr>
            </a:pPr>
            <a:r>
              <a:rPr sz="1400" dirty="0"/>
              <a:t>1. Coimbatore North: AIADMK → TVK (+18.4%)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Tiruppur</a:t>
            </a:r>
            <a:r>
              <a:rPr sz="1400" dirty="0"/>
              <a:t> West: DMK → TVK (+16.1%)</a:t>
            </a:r>
            <a:br>
              <a:rPr sz="1400" dirty="0"/>
            </a:br>
            <a:r>
              <a:rPr sz="1400" dirty="0"/>
              <a:t>3. Salem City: AIADMK → BJP (+12.9%)</a:t>
            </a:r>
            <a:br>
              <a:rPr sz="1400" dirty="0"/>
            </a:br>
            <a:r>
              <a:rPr sz="1400" dirty="0"/>
              <a:t>4. Tiruchirappalli West: Congress → DMK (+11.2%)</a:t>
            </a:r>
            <a:br>
              <a:rPr sz="1400" dirty="0"/>
            </a:br>
            <a:r>
              <a:rPr sz="1400" dirty="0"/>
              <a:t>5. Vellore: DMK → AIADMK (+9.8%)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3291840"/>
            <a:ext cx="4785055" cy="1645920"/>
          </a:xfrm>
          <a:prstGeom prst="rect">
            <a:avLst/>
          </a:prstGeom>
          <a:solidFill>
            <a:srgbClr val="F5FAFF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3474720"/>
            <a:ext cx="4419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Validation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31920"/>
            <a:ext cx="441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Flip counts from ECI Form-20C. Boundaries unchanged per Delimitation 2008. Cross-verified with ECI state summary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600" dirty="0"/>
              <a:t>Descriptive Pattern: In constituencies where TVK secured &gt;25% vote share, median combined DMK+AIADMK decline was 14.8 percentage points. Correlation: -0.82 between TVK gains and incumbent alliance drops.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t>Story 3: Turnout Growth &amp; Tight Races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352914"/>
              </p:ext>
            </p:extLst>
          </p:nvPr>
        </p:nvGraphicFramePr>
        <p:xfrm>
          <a:off x="457200" y="1188720"/>
          <a:ext cx="5394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33317"/>
              </p:ext>
            </p:extLst>
          </p:nvPr>
        </p:nvGraphicFramePr>
        <p:xfrm>
          <a:off x="6339842" y="1188720"/>
          <a:ext cx="5294695" cy="299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Region</a:t>
                      </a:r>
                    </a:p>
                  </a:txBody>
                  <a:tcPr anchor="ctr">
                    <a:solidFill>
                      <a:srgbClr val="8A2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DMK Δ</a:t>
                      </a:r>
                    </a:p>
                  </a:txBody>
                  <a:tcPr anchor="ctr">
                    <a:solidFill>
                      <a:srgbClr val="8A2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AIADMK Δ</a:t>
                      </a:r>
                    </a:p>
                  </a:txBody>
                  <a:tcPr anchor="ctr">
                    <a:solidFill>
                      <a:srgbClr val="8A2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TVK Gain</a:t>
                      </a:r>
                    </a:p>
                  </a:txBody>
                  <a:tcPr anchor="ctr">
                    <a:solidFill>
                      <a:srgbClr val="8A2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Chennai Metro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-8.1%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-7.2%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+14.5%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+16.2%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 dirty="0"/>
                        <a:t>Central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-11.2%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-9.5%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+18.8%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Delta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+17.1%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Kongu (West)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-14.5%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/>
                        <a:t>-13.1%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/>
                        <a:t>+22.4%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1400"/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-12.8%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-10.9%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rPr sz="1400" dirty="0"/>
                        <a:t>+19.9%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127370"/>
              </p:ext>
            </p:extLst>
          </p:nvPr>
        </p:nvGraphicFramePr>
        <p:xfrm>
          <a:off x="457200" y="5029200"/>
          <a:ext cx="11277295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77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600" dirty="0"/>
              <a:t>24 constituencies decided by &lt;2% margin; 16 flipped alliance blocs. Margin data from ECI Form-21A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Editorial Recommendation &amp; Data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529B"/>
                </a:solidFill>
                <a:latin typeface="Calibri Light"/>
              </a:defRPr>
            </a:pPr>
            <a:r>
              <a:rPr dirty="0"/>
              <a:t>🎬 </a:t>
            </a:r>
            <a:r>
              <a:rPr sz="2000" dirty="0"/>
              <a:t>Editorial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4590"/>
            <a:ext cx="5120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400" dirty="0"/>
              <a:t>Produce a follow-up segment tracking how Form-21A margin data and Form-20C seat transfers reshape coalition arithmetic.</a:t>
            </a:r>
            <a:br>
              <a:rPr sz="1400" dirty="0"/>
            </a:br>
            <a:br>
              <a:rPr sz="1400" dirty="0"/>
            </a:br>
            <a:r>
              <a:rPr sz="1400" dirty="0"/>
              <a:t>Focus areas:</a:t>
            </a:r>
            <a:br>
              <a:rPr sz="1400" dirty="0"/>
            </a:br>
            <a:r>
              <a:rPr sz="1400" dirty="0"/>
              <a:t>• 24 sub-2% margin constituencies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Kongu</a:t>
            </a:r>
            <a:r>
              <a:rPr sz="1400" dirty="0"/>
              <a:t> (West) &amp; North dynamics</a:t>
            </a:r>
            <a:br>
              <a:rPr sz="1400" dirty="0"/>
            </a:br>
            <a:r>
              <a:rPr sz="1400" dirty="0"/>
              <a:t>• TVK's alliance role</a:t>
            </a:r>
            <a:br>
              <a:rPr sz="1400" dirty="0"/>
            </a:br>
            <a:br>
              <a:rPr sz="1400" dirty="0"/>
            </a:br>
            <a:r>
              <a:rPr sz="1400" dirty="0"/>
              <a:t>Format: Data-driven explainer. No punditry.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188720"/>
            <a:ext cx="5486400" cy="4846320"/>
          </a:xfrm>
          <a:prstGeom prst="rect">
            <a:avLst/>
          </a:prstGeom>
          <a:solidFill>
            <a:srgbClr val="FF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3716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DC3545"/>
                </a:solidFill>
                <a:latin typeface="Calibri Light"/>
              </a:defRPr>
            </a:pPr>
            <a:r>
              <a:rPr sz="2000" dirty="0"/>
              <a:t>⚠️ What This Data CANNOT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120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rPr sz="1400" dirty="0"/>
              <a:t>ECI data provides vote counts, seat transfers, turnout. Does NOT capture:</a:t>
            </a:r>
            <a:br>
              <a:rPr sz="1400" dirty="0"/>
            </a:br>
            <a:r>
              <a:rPr sz="1400" dirty="0"/>
              <a:t>• Demographic breakdowns</a:t>
            </a:r>
            <a:br>
              <a:rPr sz="1400" dirty="0"/>
            </a:br>
            <a:r>
              <a:rPr sz="1400" dirty="0"/>
              <a:t>• First-time voter behavior</a:t>
            </a:r>
            <a:br>
              <a:rPr sz="1400" dirty="0"/>
            </a:br>
            <a:r>
              <a:rPr sz="1400" dirty="0"/>
              <a:t>• Caste/religion voting patterns</a:t>
            </a:r>
            <a:br>
              <a:rPr sz="1400" dirty="0"/>
            </a:br>
            <a:r>
              <a:rPr sz="1400" dirty="0"/>
              <a:t>• Post-poll sentiment</a:t>
            </a:r>
            <a:br>
              <a:rPr sz="1400" dirty="0"/>
            </a:br>
            <a:r>
              <a:rPr sz="1400" dirty="0"/>
              <a:t>• Reasons for voter choice</a:t>
            </a:r>
            <a:br>
              <a:rPr sz="1400" dirty="0"/>
            </a:br>
            <a:br>
              <a:rPr sz="1400" dirty="0"/>
            </a:br>
            <a:r>
              <a:rPr sz="1400" dirty="0"/>
              <a:t>Analysis limited strictly to valid vote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Election Commission of India (ECI) Results Portal (May 2026); ECI Statistical Report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91440"/>
          </a:xfrm>
          <a:prstGeom prst="rect">
            <a:avLst/>
          </a:prstGeom>
          <a:solidFill>
            <a:srgbClr val="00529B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12529"/>
                </a:solidFill>
                <a:latin typeface="Calibri Light"/>
              </a:defRPr>
            </a:pPr>
            <a:r>
              <a:rPr sz="2800" dirty="0"/>
              <a:t>Key Descriptive Findings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657600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99031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TVK: Positive Net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Gains in all 6 regions. Highest magnitude in </a:t>
            </a:r>
            <a:r>
              <a:rPr sz="1400" dirty="0" err="1"/>
              <a:t>Kongu</a:t>
            </a:r>
            <a:r>
              <a:rPr sz="1400" dirty="0"/>
              <a:t> &amp; North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3657600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Vote Reallocation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TVK &gt;25% seats: DMK+AIADMK share declined median 14.8 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234440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007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3657600" cy="73152"/>
          </a:xfrm>
          <a:prstGeom prst="rect">
            <a:avLst/>
          </a:prstGeom>
          <a:solidFill>
            <a:srgbClr val="007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Turnout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Statewide: 73.1% → 85.1%. Vote-shares normalized accordingly.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39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77639"/>
            <a:ext cx="3657600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Margin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24 seats &lt;2% margin. 16 flipped blocs. 4 recount petitions</a:t>
            </a:r>
            <a:r>
              <a:rPr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977639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3977639"/>
            <a:ext cx="3657600" cy="7315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41148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Alliance Bloc Shifts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6634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DMK bloc: -30 seats. AIADMK bloc: -43 seats. Third bloc: +58.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977639"/>
            <a:ext cx="36576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977639"/>
            <a:ext cx="3657600" cy="73152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1148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2529"/>
                </a:solidFill>
                <a:latin typeface="Calibri Light"/>
              </a:defRPr>
            </a:pPr>
            <a:r>
              <a:rPr sz="1600" dirty="0"/>
              <a:t>Boundary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rPr sz="1400" dirty="0"/>
              <a:t>All comparisons use 2008 Delimitation boundaries. No splits</a:t>
            </a:r>
            <a:r>
              <a:rPr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6C757D"/>
                </a:solidFill>
                <a:latin typeface="Calibri"/>
              </a:defRPr>
            </a:pPr>
            <a:r>
              <a:t>Source: ECI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sz="3600" dirty="0"/>
              <a:t>Analysis Complete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2560320"/>
            <a:ext cx="9265615" cy="3291840"/>
          </a:xfrm>
          <a:prstGeom prst="rect">
            <a:avLst/>
          </a:prstGeom>
          <a:solidFill>
            <a:srgbClr val="00468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2743200"/>
            <a:ext cx="88998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E6E6E6"/>
                </a:solidFill>
                <a:latin typeface="Calibri"/>
              </a:defRPr>
            </a:pPr>
            <a:r>
              <a:rPr sz="1400" dirty="0"/>
              <a:t>Three Stories. One Headline. Strictly ECI-Sourced.</a:t>
            </a:r>
            <a:br>
              <a:rPr sz="1400" dirty="0"/>
            </a:br>
            <a:br>
              <a:rPr sz="1400" dirty="0"/>
            </a:br>
            <a:r>
              <a:rPr sz="1400" dirty="0"/>
              <a:t>Primary Sources:</a:t>
            </a:r>
            <a:br>
              <a:rPr sz="1400" dirty="0"/>
            </a:br>
            <a:r>
              <a:rPr sz="1400" dirty="0"/>
              <a:t>• ECI Statistical Report 2021</a:t>
            </a:r>
            <a:br>
              <a:rPr sz="1400" dirty="0"/>
            </a:br>
            <a:r>
              <a:rPr sz="1400" dirty="0"/>
              <a:t>• ECI Results Portal 2026 (Forms 20, 21A, 21C)</a:t>
            </a:r>
            <a:br>
              <a:rPr sz="1400" dirty="0"/>
            </a:br>
            <a:r>
              <a:rPr sz="1400" dirty="0"/>
              <a:t>• Data: May </a:t>
            </a:r>
            <a:r>
              <a:rPr lang="en-US" sz="1400" dirty="0"/>
              <a:t>,</a:t>
            </a:r>
            <a:r>
              <a:rPr sz="1400" dirty="0"/>
              <a:t> 2026 | Constituency-level normalization applied</a:t>
            </a:r>
            <a:br>
              <a:rPr sz="1400" dirty="0"/>
            </a:br>
            <a:br>
              <a:rPr sz="1400" dirty="0"/>
            </a:br>
            <a:r>
              <a:rPr sz="1400" dirty="0"/>
              <a:t>Compliance: Strictly descriptive. No causal claims. No predictions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C8C8C8"/>
                </a:solidFill>
                <a:latin typeface="Calibri"/>
              </a:defRPr>
            </a:pPr>
            <a:r>
              <a:rPr sz="1400" dirty="0"/>
              <a:t>Presented by Vaidhavi Solunke | </a:t>
            </a:r>
            <a:r>
              <a:rPr sz="1400" dirty="0" err="1"/>
              <a:t>AtliQ</a:t>
            </a:r>
            <a:r>
              <a:rPr sz="1400" dirty="0"/>
              <a:t> Media | Data-Driven. Neutral.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TN_Election_Analysis</Template>
  <TotalTime>0</TotalTime>
  <Words>1183</Words>
  <Application>Microsoft Office PowerPoint</Application>
  <PresentationFormat>Widescreen</PresentationFormat>
  <Paragraphs>194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Vaidhavi Solunke</dc:creator>
  <cp:keywords/>
  <dc:description>generated using python-pptx</dc:description>
  <cp:lastModifiedBy>Vaidhavi Solunke</cp:lastModifiedBy>
  <cp:revision>1</cp:revision>
  <dcterms:created xsi:type="dcterms:W3CDTF">2026-05-24T15:22:54Z</dcterms:created>
  <dcterms:modified xsi:type="dcterms:W3CDTF">2026-05-24T15:23:43Z</dcterms:modified>
  <cp:category/>
</cp:coreProperties>
</file>